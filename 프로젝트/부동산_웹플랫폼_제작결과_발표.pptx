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부동산 웹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688"/>
                </a:solidFill>
                <a:latin typeface="맑은 고딕"/>
              </a:defRPr>
            </a:pPr>
            <a:r>
              <a:t>제작 결과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F0F4F8"/>
                </a:solidFill>
                <a:latin typeface="맑은 고딕"/>
              </a:defRPr>
            </a:pPr>
            <a:r>
              <a:t>발표 시간: 20분  |  슬라이드: 10장</a:t>
            </a:r>
          </a:p>
          <a:p>
            <a:pPr algn="ctr">
              <a:spcAft>
                <a:spcPts val="600"/>
              </a:spcAft>
              <a:defRPr sz="1600">
                <a:solidFill>
                  <a:srgbClr val="F0F4F8"/>
                </a:solidFill>
                <a:latin typeface="맑은 고딕"/>
              </a:defRPr>
            </a:pPr>
            <a:r>
              <a:t>팀: 김길동 · 홍길동 · 박미금 · 김서연</a:t>
            </a:r>
          </a:p>
          <a:p>
            <a:pPr algn="ctr">
              <a:spcAft>
                <a:spcPts val="600"/>
              </a:spcAft>
              <a:defRPr sz="1600">
                <a:solidFill>
                  <a:srgbClr val="F0F4F8"/>
                </a:solidFill>
                <a:latin typeface="맑은 고딕"/>
              </a:defRPr>
            </a:pPr>
            <a:r>
              <a:t>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목차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1. 프로젝트 개요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2. 팀원 소개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3. 프로젝트 목표 및 범위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4. 시스템 아키텍처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5. 프론트엔드 기술 스택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6. 백엔드 기술 스택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7. RPA + AI (Python) 기술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8. 주요 기능 및 구현 결과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9. 배포 및 운영 환경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맑은 고딕"/>
              </a:defRPr>
            </a:pPr>
            <a:r>
              <a:t>10. 결론 및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프로젝트명: 부동산 웹 플랫폼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목적: 매물 검색·등록·관리를 통합 제공하는 웹 서비스 구축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대상 사용자: 일반 사용자(매물 탐색), 중개사/관리자(매물 관리)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개발 기간: 기획 → 설계 → 개발 → 테스트 → 배포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핵심 가치: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   • 직관적인 UI/UX로 매물 정보 접근성 향상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   • Spring Security 기반 안전한 회원·권한 관리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   • RPA + AI로 부동산 데이터 수집·분석 자동화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맑은 고딕"/>
              </a:defRPr>
            </a:pPr>
            <a:r>
              <a:t>   • 클라우드 배포를 통한 안정적 서비스 운영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2. 팀원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9202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b="1" sz="1800">
                <a:solidFill>
                  <a:srgbClr val="1A3A5C"/>
                </a:solidFill>
                <a:latin typeface="맑은 고딕"/>
              </a:defRPr>
            </a:pPr>
            <a:r>
              <a:t>김길동</a:t>
            </a:r>
          </a:p>
          <a:p>
            <a:pPr algn="ctr">
              <a:spcAft>
                <a:spcPts val="800"/>
              </a:spcAft>
              <a:defRPr b="1" sz="1400">
                <a:solidFill>
                  <a:srgbClr val="009688"/>
                </a:solidFill>
                <a:latin typeface="맑은 고딕"/>
              </a:defRPr>
            </a:pPr>
            <a:r>
              <a:t>팀장 / 백엔드</a:t>
            </a:r>
          </a:p>
          <a:p>
            <a:pPr algn="ctr">
              <a:spcAft>
                <a:spcPts val="800"/>
              </a:spcAft>
              <a:defRPr b="0" sz="1200">
                <a:solidFill>
                  <a:srgbClr val="5D6D7E"/>
                </a:solidFill>
                <a:latin typeface="맑은 고딕"/>
              </a:defRPr>
            </a:pPr>
            <a:r>
              <a:t>Spring Boot API, DB 설계, 보안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371600"/>
            <a:ext cx="19202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54680" y="16459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783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b="1" sz="1800">
                <a:solidFill>
                  <a:srgbClr val="1A3A5C"/>
                </a:solidFill>
                <a:latin typeface="맑은 고딕"/>
              </a:defRPr>
            </a:pPr>
            <a:r>
              <a:t>홍길동</a:t>
            </a:r>
          </a:p>
          <a:p>
            <a:pPr algn="ctr">
              <a:spcAft>
                <a:spcPts val="800"/>
              </a:spcAft>
              <a:defRPr b="1" sz="1400">
                <a:solidFill>
                  <a:srgbClr val="009688"/>
                </a:solidFill>
                <a:latin typeface="맑은 고딕"/>
              </a:defRPr>
            </a:pPr>
            <a:r>
              <a:t>프론트엔드</a:t>
            </a:r>
          </a:p>
          <a:p>
            <a:pPr algn="ctr">
              <a:spcAft>
                <a:spcPts val="800"/>
              </a:spcAft>
              <a:defRPr b="0" sz="1200">
                <a:solidFill>
                  <a:srgbClr val="5D6D7E"/>
                </a:solidFill>
                <a:latin typeface="맑은 고딕"/>
              </a:defRPr>
            </a:pPr>
            <a:r>
              <a:t>HTML/CSS/JS, Bootstrap UI, 반응형 레이아웃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71600"/>
            <a:ext cx="19202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03520" y="16459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783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b="1" sz="1800">
                <a:solidFill>
                  <a:srgbClr val="1A3A5C"/>
                </a:solidFill>
                <a:latin typeface="맑은 고딕"/>
              </a:defRPr>
            </a:pPr>
            <a:r>
              <a:t>박미금</a:t>
            </a:r>
          </a:p>
          <a:p>
            <a:pPr algn="ctr">
              <a:spcAft>
                <a:spcPts val="800"/>
              </a:spcAft>
              <a:defRPr b="1" sz="1400">
                <a:solidFill>
                  <a:srgbClr val="009688"/>
                </a:solidFill>
                <a:latin typeface="맑은 고딕"/>
              </a:defRPr>
            </a:pPr>
            <a:r>
              <a:t>풀스택 / DevOps</a:t>
            </a:r>
          </a:p>
          <a:p>
            <a:pPr algn="ctr">
              <a:spcAft>
                <a:spcPts val="800"/>
              </a:spcAft>
              <a:defRPr b="0" sz="1200">
                <a:solidFill>
                  <a:srgbClr val="5D6D7E"/>
                </a:solidFill>
                <a:latin typeface="맑은 고딕"/>
              </a:defRPr>
            </a:pPr>
            <a:r>
              <a:t>Gradle 빌드, 배포(TiDB·Render/EC2), CI/CD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371600"/>
            <a:ext cx="19202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52360" y="16459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783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b="1" sz="1800">
                <a:solidFill>
                  <a:srgbClr val="1A3A5C"/>
                </a:solidFill>
                <a:latin typeface="맑은 고딕"/>
              </a:defRPr>
            </a:pPr>
            <a:r>
              <a:t>김서연</a:t>
            </a:r>
          </a:p>
          <a:p>
            <a:pPr algn="ctr">
              <a:spcAft>
                <a:spcPts val="800"/>
              </a:spcAft>
              <a:defRPr b="1" sz="1400">
                <a:solidFill>
                  <a:srgbClr val="009688"/>
                </a:solidFill>
                <a:latin typeface="맑은 고딕"/>
              </a:defRPr>
            </a:pPr>
            <a:r>
              <a:t>RPA + AI</a:t>
            </a:r>
          </a:p>
          <a:p>
            <a:pPr algn="ctr">
              <a:spcAft>
                <a:spcPts val="800"/>
              </a:spcAft>
              <a:defRPr b="0" sz="1200">
                <a:solidFill>
                  <a:srgbClr val="5D6D7E"/>
                </a:solidFill>
                <a:latin typeface="맑은 고딕"/>
              </a:defRPr>
            </a:pPr>
            <a:r>
              <a:t>Python 데이터 수집·분석, 시각화, ML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3. 프로젝트 목표 및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프로젝트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매물 통합 검색·필터·상세 조회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회원가입/로그인 및 권한별 접근 제어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매물 등록·수정·삭제(CRUD) 관리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관리자 대시보드 및 통계 제공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부동산 시세·지역 데이터 AI 분석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RPA 기반 외부 매물 데이터 자동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개발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웹 프론트: 반응형 UI (Bootstrap 5 + Flexbox)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백엔드 API: Spring Boot REST + Thymeleaf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DB: MySQL 8 / TiDB 연동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인증: Spring Security + BCrypt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빌드: Gradle 멀티 모듈 구성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배포: Render 또는 AWS EC2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4. 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34440"/>
            <a:ext cx="6949440" cy="5943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0759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Client Layer  →  HTML · CSS · JS · Bootstrap 5 · Flexbox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6949440" cy="5943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8483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Application Layer  →  Spring Boot 3.5 · Thymeleaf · Tomcat 10.1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88920"/>
            <a:ext cx="6949440" cy="5943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6207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Security Layer  →  Spring Security · BCrypt · Session/JWT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566160"/>
            <a:ext cx="6949440" cy="5943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63931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Data Layer  →  MySQL 8 · JDBC Template · TiDB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43400"/>
            <a:ext cx="694944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41655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AI/RPA Layer  →  Python · Requests · BeautifulSoup · scikit-learn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120640"/>
            <a:ext cx="6949440" cy="5943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9379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Deploy Layer  →  Gradle Build · Render / AWS EC2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D6D7E"/>
                </a:solidFill>
                <a:latin typeface="맑은 고딕"/>
              </a:defRPr>
            </a:pPr>
            <a:r>
              <a:t>▲ 3-Tier Architecture + RPA/AI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5. 프론트엔드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핵심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HTML5 — 시맨틱 마크업 구조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CSS3 — 스타일링 및 애니메이션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JavaScript (ES6+) — 동적 UI/UX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Bootstrap 5 — 반응형 컴포넌트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Flexbox Layout — 유연한 레이아웃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구현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모바일·태블릿·데스크톱 반응형 대응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매물 카드 그리드 / 리스트 뷰 전환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검색 필터 UI (지역·가격·면적)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Thymeleaf 템플릿과 서버 렌더링 연동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Bootstrap Navbar·Modal·Form 활용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6. 백엔드 기술 스택 &amp; 의존성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런타임 &amp;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JDK 21 (LTS)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Spring Boot 3.5.x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Thymeleaf (서버 사이드 템플릿)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Tomcat 10.1 (내장 WAS)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MySQL 8 (RDBMS)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Gradle (빌드 도구)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Spring 의존성 (DI)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spring-boot-starter-web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spring-boot-starter-security (BCrypt)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spring-boot-starter-thymeleaf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mysql-connector-j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lombok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spring-boot-starter-jdbc (JdbcTemplate)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7. RPA + AI (Python)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Python 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NumPy — 수치 연산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Pandas — 데이터 전처리·분석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Matplotlib — 기본 시각화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Seaborn — 통계 그래프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Plotly — 인터랙티브 차트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Requests — HTTP API/웹 요청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BeautifulSoup — HTML 크롤링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scikit-learn — ML 예측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  <a:latin typeface="맑은 고딕"/>
              </a:defRPr>
            </a:pPr>
            <a:r>
              <a:t>활용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외부 부동산 사이트 매물 자동 수집 (RPA)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지역별 시세·거래량 데이터 분석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매물 가격 예측 모델 (회귀/분류)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관리자 대시보드 시각화 리포트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크롤링 데이터 → MySQL/TiDB 적재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맑은 고딕"/>
              </a:defRPr>
            </a:pPr>
            <a:r>
              <a:t>• 정기 배치 스케줄링 연동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8~10. 구현 결과 · 배포 ·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  <a:latin typeface="맑은 고딕"/>
              </a:defRPr>
            </a:pPr>
            <a:r>
              <a:t>주요 구현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매물 검색·상세·등록·수정·삭제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회원가입/로그인 (BCrypt 암호화)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관리자 권한별 페이지 접근 제어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RPA 데이터 수집 + AI 시세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  <a:latin typeface="맑은 고딕"/>
              </a:defRPr>
            </a:pPr>
            <a:r>
              <a:t>배포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64592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DB: TiDB (MySQL 호환 분산 DB)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서버: Render 또는 AWS EC2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빌드: Gradle → JAR/WAR 배포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HTTPS + 환경변수 기반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  <a:latin typeface="맑은 고딕"/>
              </a:defRPr>
            </a:pPr>
            <a:r>
              <a:t>성과 &amp; 향후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Full-Stack 부동산 플랫폼 완성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팀 4인 역할 분담 협업 경험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향후: 실시간 알림, 지도 API, 모바일 앱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• Q &amp; A — 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